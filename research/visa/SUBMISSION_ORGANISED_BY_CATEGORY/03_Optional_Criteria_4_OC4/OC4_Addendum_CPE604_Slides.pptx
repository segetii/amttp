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94" r:id="rId3"/>
    <p:sldId id="295" r:id="rId4"/>
    <p:sldId id="296" r:id="rId5"/>
    <p:sldId id="297" r:id="rId6"/>
    <p:sldId id="298" r:id="rId7"/>
    <p:sldId id="299" r:id="rId8"/>
    <p:sldId id="30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7" autoAdjust="0"/>
    <p:restoredTop sz="94660"/>
  </p:normalViewPr>
  <p:slideViewPr>
    <p:cSldViewPr snapToGrid="0">
      <p:cViewPr varScale="1">
        <p:scale>
          <a:sx n="95" d="100"/>
          <a:sy n="95" d="100"/>
        </p:scale>
        <p:origin x="705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a Akinsuli" userId="7c5e66f4d7923a9c" providerId="LiveId" clId="{A2011A45-B9A3-47E2-AD35-A22ED63F5B2F}"/>
    <pc:docChg chg="delSld delMainMaster">
      <pc:chgData name="Ola Akinsuli" userId="7c5e66f4d7923a9c" providerId="LiveId" clId="{A2011A45-B9A3-47E2-AD35-A22ED63F5B2F}" dt="2025-08-22T05:55:52.720" v="0" actId="47"/>
      <pc:docMkLst>
        <pc:docMk/>
      </pc:docMkLst>
      <pc:sldChg chg="del">
        <pc:chgData name="Ola Akinsuli" userId="7c5e66f4d7923a9c" providerId="LiveId" clId="{A2011A45-B9A3-47E2-AD35-A22ED63F5B2F}" dt="2025-08-22T05:55:52.720" v="0" actId="47"/>
        <pc:sldMkLst>
          <pc:docMk/>
          <pc:sldMk cId="3090551845" sldId="256"/>
        </pc:sldMkLst>
      </pc:sldChg>
      <pc:sldMasterChg chg="del delSldLayout">
        <pc:chgData name="Ola Akinsuli" userId="7c5e66f4d7923a9c" providerId="LiveId" clId="{A2011A45-B9A3-47E2-AD35-A22ED63F5B2F}" dt="2025-08-22T05:55:52.720" v="0" actId="47"/>
        <pc:sldMasterMkLst>
          <pc:docMk/>
          <pc:sldMasterMk cId="2071484485" sldId="2147483648"/>
        </pc:sldMasterMkLst>
        <pc:sldLayoutChg chg="del">
          <pc:chgData name="Ola Akinsuli" userId="7c5e66f4d7923a9c" providerId="LiveId" clId="{A2011A45-B9A3-47E2-AD35-A22ED63F5B2F}" dt="2025-08-22T05:55:52.720" v="0" actId="47"/>
          <pc:sldLayoutMkLst>
            <pc:docMk/>
            <pc:sldMasterMk cId="2071484485" sldId="2147483648"/>
            <pc:sldLayoutMk cId="383173489" sldId="2147483649"/>
          </pc:sldLayoutMkLst>
        </pc:sldLayoutChg>
        <pc:sldLayoutChg chg="del">
          <pc:chgData name="Ola Akinsuli" userId="7c5e66f4d7923a9c" providerId="LiveId" clId="{A2011A45-B9A3-47E2-AD35-A22ED63F5B2F}" dt="2025-08-22T05:55:52.720" v="0" actId="47"/>
          <pc:sldLayoutMkLst>
            <pc:docMk/>
            <pc:sldMasterMk cId="2071484485" sldId="2147483648"/>
            <pc:sldLayoutMk cId="1697814479" sldId="2147483650"/>
          </pc:sldLayoutMkLst>
        </pc:sldLayoutChg>
        <pc:sldLayoutChg chg="del">
          <pc:chgData name="Ola Akinsuli" userId="7c5e66f4d7923a9c" providerId="LiveId" clId="{A2011A45-B9A3-47E2-AD35-A22ED63F5B2F}" dt="2025-08-22T05:55:52.720" v="0" actId="47"/>
          <pc:sldLayoutMkLst>
            <pc:docMk/>
            <pc:sldMasterMk cId="2071484485" sldId="2147483648"/>
            <pc:sldLayoutMk cId="1752024320" sldId="2147483651"/>
          </pc:sldLayoutMkLst>
        </pc:sldLayoutChg>
        <pc:sldLayoutChg chg="del">
          <pc:chgData name="Ola Akinsuli" userId="7c5e66f4d7923a9c" providerId="LiveId" clId="{A2011A45-B9A3-47E2-AD35-A22ED63F5B2F}" dt="2025-08-22T05:55:52.720" v="0" actId="47"/>
          <pc:sldLayoutMkLst>
            <pc:docMk/>
            <pc:sldMasterMk cId="2071484485" sldId="2147483648"/>
            <pc:sldLayoutMk cId="2390484428" sldId="2147483652"/>
          </pc:sldLayoutMkLst>
        </pc:sldLayoutChg>
        <pc:sldLayoutChg chg="del">
          <pc:chgData name="Ola Akinsuli" userId="7c5e66f4d7923a9c" providerId="LiveId" clId="{A2011A45-B9A3-47E2-AD35-A22ED63F5B2F}" dt="2025-08-22T05:55:52.720" v="0" actId="47"/>
          <pc:sldLayoutMkLst>
            <pc:docMk/>
            <pc:sldMasterMk cId="2071484485" sldId="2147483648"/>
            <pc:sldLayoutMk cId="1273818612" sldId="2147483653"/>
          </pc:sldLayoutMkLst>
        </pc:sldLayoutChg>
        <pc:sldLayoutChg chg="del">
          <pc:chgData name="Ola Akinsuli" userId="7c5e66f4d7923a9c" providerId="LiveId" clId="{A2011A45-B9A3-47E2-AD35-A22ED63F5B2F}" dt="2025-08-22T05:55:52.720" v="0" actId="47"/>
          <pc:sldLayoutMkLst>
            <pc:docMk/>
            <pc:sldMasterMk cId="2071484485" sldId="2147483648"/>
            <pc:sldLayoutMk cId="367924652" sldId="2147483654"/>
          </pc:sldLayoutMkLst>
        </pc:sldLayoutChg>
        <pc:sldLayoutChg chg="del">
          <pc:chgData name="Ola Akinsuli" userId="7c5e66f4d7923a9c" providerId="LiveId" clId="{A2011A45-B9A3-47E2-AD35-A22ED63F5B2F}" dt="2025-08-22T05:55:52.720" v="0" actId="47"/>
          <pc:sldLayoutMkLst>
            <pc:docMk/>
            <pc:sldMasterMk cId="2071484485" sldId="2147483648"/>
            <pc:sldLayoutMk cId="1680564653" sldId="2147483655"/>
          </pc:sldLayoutMkLst>
        </pc:sldLayoutChg>
        <pc:sldLayoutChg chg="del">
          <pc:chgData name="Ola Akinsuli" userId="7c5e66f4d7923a9c" providerId="LiveId" clId="{A2011A45-B9A3-47E2-AD35-A22ED63F5B2F}" dt="2025-08-22T05:55:52.720" v="0" actId="47"/>
          <pc:sldLayoutMkLst>
            <pc:docMk/>
            <pc:sldMasterMk cId="2071484485" sldId="2147483648"/>
            <pc:sldLayoutMk cId="778248476" sldId="2147483656"/>
          </pc:sldLayoutMkLst>
        </pc:sldLayoutChg>
        <pc:sldLayoutChg chg="del">
          <pc:chgData name="Ola Akinsuli" userId="7c5e66f4d7923a9c" providerId="LiveId" clId="{A2011A45-B9A3-47E2-AD35-A22ED63F5B2F}" dt="2025-08-22T05:55:52.720" v="0" actId="47"/>
          <pc:sldLayoutMkLst>
            <pc:docMk/>
            <pc:sldMasterMk cId="2071484485" sldId="2147483648"/>
            <pc:sldLayoutMk cId="373899474" sldId="2147483657"/>
          </pc:sldLayoutMkLst>
        </pc:sldLayoutChg>
        <pc:sldLayoutChg chg="del">
          <pc:chgData name="Ola Akinsuli" userId="7c5e66f4d7923a9c" providerId="LiveId" clId="{A2011A45-B9A3-47E2-AD35-A22ED63F5B2F}" dt="2025-08-22T05:55:52.720" v="0" actId="47"/>
          <pc:sldLayoutMkLst>
            <pc:docMk/>
            <pc:sldMasterMk cId="2071484485" sldId="2147483648"/>
            <pc:sldLayoutMk cId="1456213745" sldId="2147483658"/>
          </pc:sldLayoutMkLst>
        </pc:sldLayoutChg>
        <pc:sldLayoutChg chg="del">
          <pc:chgData name="Ola Akinsuli" userId="7c5e66f4d7923a9c" providerId="LiveId" clId="{A2011A45-B9A3-47E2-AD35-A22ED63F5B2F}" dt="2025-08-22T05:55:52.720" v="0" actId="47"/>
          <pc:sldLayoutMkLst>
            <pc:docMk/>
            <pc:sldMasterMk cId="2071484485" sldId="2147483648"/>
            <pc:sldLayoutMk cId="1796202677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39"/>
              </a:lnSpc>
            </a:pPr>
            <a:fld id="{81D60167-4931-47E6-BA6A-407CBD079E47}" type="slidenum">
              <a:rPr lang="en-CA" spc="-25" smtClean="0"/>
              <a:pPr marL="38100">
                <a:lnSpc>
                  <a:spcPts val="1639"/>
                </a:lnSpc>
              </a:pPr>
              <a:t>‹#›</a:t>
            </a:fld>
            <a:endParaRPr lang="en-CA" spc="-25" dirty="0"/>
          </a:p>
        </p:txBody>
      </p:sp>
    </p:spTree>
    <p:extLst>
      <p:ext uri="{BB962C8B-B14F-4D97-AF65-F5344CB8AC3E}">
        <p14:creationId xmlns:p14="http://schemas.microsoft.com/office/powerpoint/2010/main" val="2770139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39"/>
              </a:lnSpc>
            </a:pPr>
            <a:fld id="{81D60167-4931-47E6-BA6A-407CBD079E47}" type="slidenum">
              <a:rPr lang="en-CA" spc="-25" smtClean="0"/>
              <a:pPr marL="38100">
                <a:lnSpc>
                  <a:spcPts val="1639"/>
                </a:lnSpc>
              </a:pPr>
              <a:t>‹#›</a:t>
            </a:fld>
            <a:endParaRPr lang="en-CA" spc="-25" dirty="0"/>
          </a:p>
        </p:txBody>
      </p:sp>
    </p:spTree>
    <p:extLst>
      <p:ext uri="{BB962C8B-B14F-4D97-AF65-F5344CB8AC3E}">
        <p14:creationId xmlns:p14="http://schemas.microsoft.com/office/powerpoint/2010/main" val="1368317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39"/>
              </a:lnSpc>
            </a:pPr>
            <a:fld id="{81D60167-4931-47E6-BA6A-407CBD079E47}" type="slidenum">
              <a:rPr lang="en-CA" spc="-25" smtClean="0"/>
              <a:pPr marL="38100">
                <a:lnSpc>
                  <a:spcPts val="1639"/>
                </a:lnSpc>
              </a:pPr>
              <a:t>‹#›</a:t>
            </a:fld>
            <a:endParaRPr lang="en-CA" spc="-25" dirty="0"/>
          </a:p>
        </p:txBody>
      </p:sp>
    </p:spTree>
    <p:extLst>
      <p:ext uri="{BB962C8B-B14F-4D97-AF65-F5344CB8AC3E}">
        <p14:creationId xmlns:p14="http://schemas.microsoft.com/office/powerpoint/2010/main" val="2456119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39"/>
              </a:lnSpc>
            </a:pPr>
            <a:fld id="{81D60167-4931-47E6-BA6A-407CBD079E47}" type="slidenum">
              <a:rPr lang="en-CA" spc="-25" smtClean="0"/>
              <a:pPr marL="38100">
                <a:lnSpc>
                  <a:spcPts val="1639"/>
                </a:lnSpc>
              </a:pPr>
              <a:t>‹#›</a:t>
            </a:fld>
            <a:endParaRPr lang="en-CA" spc="-25" dirty="0"/>
          </a:p>
        </p:txBody>
      </p:sp>
    </p:spTree>
    <p:extLst>
      <p:ext uri="{BB962C8B-B14F-4D97-AF65-F5344CB8AC3E}">
        <p14:creationId xmlns:p14="http://schemas.microsoft.com/office/powerpoint/2010/main" val="2491090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9906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12192000" cy="990600"/>
          </a:xfrm>
          <a:custGeom>
            <a:avLst/>
            <a:gdLst/>
            <a:ahLst/>
            <a:cxnLst/>
            <a:rect l="l" t="t" r="r" b="b"/>
            <a:pathLst>
              <a:path w="9144000" h="990600">
                <a:moveTo>
                  <a:pt x="0" y="0"/>
                </a:moveTo>
                <a:lnTo>
                  <a:pt x="9144000" y="0"/>
                </a:lnTo>
                <a:lnTo>
                  <a:pt x="9144000" y="990600"/>
                </a:ln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39"/>
              </a:lnSpc>
            </a:pPr>
            <a:fld id="{81D60167-4931-47E6-BA6A-407CBD079E47}" type="slidenum">
              <a:rPr lang="en-CA" spc="-25" smtClean="0"/>
              <a:pPr marL="38100">
                <a:lnSpc>
                  <a:spcPts val="1639"/>
                </a:lnSpc>
              </a:pPr>
              <a:t>‹#›</a:t>
            </a:fld>
            <a:endParaRPr lang="en-CA" spc="-25" dirty="0"/>
          </a:p>
        </p:txBody>
      </p:sp>
    </p:spTree>
    <p:extLst>
      <p:ext uri="{BB962C8B-B14F-4D97-AF65-F5344CB8AC3E}">
        <p14:creationId xmlns:p14="http://schemas.microsoft.com/office/powerpoint/2010/main" val="795391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9906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12192000" cy="990600"/>
          </a:xfrm>
          <a:custGeom>
            <a:avLst/>
            <a:gdLst/>
            <a:ahLst/>
            <a:cxnLst/>
            <a:rect l="l" t="t" r="r" b="b"/>
            <a:pathLst>
              <a:path w="9144000" h="990600">
                <a:moveTo>
                  <a:pt x="0" y="0"/>
                </a:moveTo>
                <a:lnTo>
                  <a:pt x="9144000" y="0"/>
                </a:lnTo>
                <a:lnTo>
                  <a:pt x="9144000" y="990600"/>
                </a:ln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g object 18"/>
          <p:cNvSpPr/>
          <p:nvPr/>
        </p:nvSpPr>
        <p:spPr>
          <a:xfrm>
            <a:off x="7112000" y="609600"/>
            <a:ext cx="5080000" cy="0"/>
          </a:xfrm>
          <a:custGeom>
            <a:avLst/>
            <a:gdLst/>
            <a:ahLst/>
            <a:cxnLst/>
            <a:rect l="l" t="t" r="r" b="b"/>
            <a:pathLst>
              <a:path w="3810000">
                <a:moveTo>
                  <a:pt x="0" y="0"/>
                </a:moveTo>
                <a:lnTo>
                  <a:pt x="3810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9" name="bg object 19"/>
          <p:cNvSpPr/>
          <p:nvPr/>
        </p:nvSpPr>
        <p:spPr>
          <a:xfrm>
            <a:off x="304800" y="609600"/>
            <a:ext cx="8737600" cy="0"/>
          </a:xfrm>
          <a:custGeom>
            <a:avLst/>
            <a:gdLst/>
            <a:ahLst/>
            <a:cxnLst/>
            <a:rect l="l" t="t" r="r" b="b"/>
            <a:pathLst>
              <a:path w="6553200">
                <a:moveTo>
                  <a:pt x="0" y="0"/>
                </a:moveTo>
                <a:lnTo>
                  <a:pt x="65532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347201" y="647701"/>
            <a:ext cx="2743113" cy="34288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4986" y="54199"/>
            <a:ext cx="11632353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4250" y="1564890"/>
            <a:ext cx="10155767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49577" y="6291943"/>
            <a:ext cx="379305" cy="2051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39"/>
              </a:lnSpc>
            </a:pPr>
            <a:fld id="{81D60167-4931-47E6-BA6A-407CBD079E47}" type="slidenum">
              <a:rPr lang="en-CA" spc="-25" smtClean="0"/>
              <a:pPr marL="38100">
                <a:lnSpc>
                  <a:spcPts val="1639"/>
                </a:lnSpc>
              </a:pPr>
              <a:t>‹#›</a:t>
            </a:fld>
            <a:endParaRPr lang="en-CA" spc="-25" dirty="0"/>
          </a:p>
        </p:txBody>
      </p:sp>
    </p:spTree>
    <p:extLst>
      <p:ext uri="{BB962C8B-B14F-4D97-AF65-F5344CB8AC3E}">
        <p14:creationId xmlns:p14="http://schemas.microsoft.com/office/powerpoint/2010/main" val="4122183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mailto:Sunday.ajagbe@tech-u.edu.ng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ICEECT61758.2024.10739320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AI_Security_Social_Engineering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1904.12995" TargetMode="External"/><Relationship Id="rId3" Type="http://schemas.openxmlformats.org/officeDocument/2006/relationships/hyperlink" Target="https://doi.org/10.5281/zenodo.19037688" TargetMode="External"/><Relationship Id="rId7" Type="http://schemas.openxmlformats.org/officeDocument/2006/relationships/hyperlink" Target="https://arxiv.org/abs/2003.11529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statmt.org/wmt18/" TargetMode="External"/><Relationship Id="rId5" Type="http://schemas.openxmlformats.org/officeDocument/2006/relationships/hyperlink" Target="https://doi.org/10.5281/zenodo.19038783" TargetMode="External"/><Relationship Id="rId4" Type="http://schemas.openxmlformats.org/officeDocument/2006/relationships/hyperlink" Target="https://doi.org/10.1109/ICEECT61758.2024.10739320" TargetMode="External"/><Relationship Id="rId9" Type="http://schemas.openxmlformats.org/officeDocument/2006/relationships/hyperlink" Target="https://www.techrxiv.org/doi/full/10.36227/techrxiv.177220113.33816607/v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2813364" y="3859944"/>
            <a:ext cx="6167673" cy="14208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05" marR="26670" algn="ctr">
              <a:lnSpc>
                <a:spcPct val="120000"/>
              </a:lnSpc>
              <a:spcBef>
                <a:spcPts val="100"/>
              </a:spcBef>
            </a:pPr>
            <a:r>
              <a:rPr lang="en-US" sz="2000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Sunday A. Ajagbe PhD</a:t>
            </a:r>
          </a:p>
          <a:p>
            <a:pPr marL="27305" marR="26670" algn="ctr">
              <a:lnSpc>
                <a:spcPct val="120000"/>
              </a:lnSpc>
              <a:spcBef>
                <a:spcPts val="100"/>
              </a:spcBef>
            </a:pPr>
            <a:r>
              <a:rPr lang="en-GB" kern="0" dirty="0">
                <a:solidFill>
                  <a:sysClr val="windowText" lastClr="000000"/>
                </a:solidFill>
              </a:rPr>
              <a:t>Computer and Industrial &amp; Production Engineering Department </a:t>
            </a:r>
          </a:p>
          <a:p>
            <a:pPr marL="27305" marR="26670" algn="ctr">
              <a:lnSpc>
                <a:spcPct val="120000"/>
              </a:lnSpc>
              <a:spcBef>
                <a:spcPts val="100"/>
              </a:spcBef>
            </a:pPr>
            <a:r>
              <a:rPr lang="en-GB" kern="0" dirty="0">
                <a:solidFill>
                  <a:sysClr val="windowText" lastClr="000000"/>
                </a:solidFill>
              </a:rPr>
              <a:t>Abiola Ajimobi Technical University</a:t>
            </a:r>
          </a:p>
          <a:p>
            <a:pPr marL="27305" marR="26670" algn="ctr">
              <a:lnSpc>
                <a:spcPct val="120000"/>
              </a:lnSpc>
              <a:spcBef>
                <a:spcPts val="100"/>
              </a:spcBef>
            </a:pPr>
            <a:r>
              <a:rPr lang="en-GB" sz="2000" kern="0" dirty="0" err="1">
                <a:solidFill>
                  <a:sysClr val="windowText" lastClr="000000"/>
                </a:solidFill>
                <a:latin typeface="Arial"/>
                <a:cs typeface="Arial"/>
                <a:hlinkClick r:id="rId2"/>
              </a:rPr>
              <a:t>Sunday.ajagbe@</a:t>
            </a:r>
            <a:r>
              <a:rPr lang="en-GB" sz="2000" kern="0" err="1">
                <a:solidFill>
                  <a:sysClr val="windowText" lastClr="000000"/>
                </a:solidFill>
                <a:latin typeface="Arial"/>
                <a:cs typeface="Arial"/>
                <a:hlinkClick r:id="rId2"/>
              </a:rPr>
              <a:t>tech-u</a:t>
            </a:r>
            <a:r>
              <a:rPr lang="en-GB" sz="2000" kern="0">
                <a:solidFill>
                  <a:sysClr val="windowText" lastClr="000000"/>
                </a:solidFill>
                <a:latin typeface="Arial"/>
                <a:cs typeface="Arial"/>
                <a:hlinkClick r:id="rId2"/>
              </a:rPr>
              <a:t>.edu.ng</a:t>
            </a:r>
            <a:r>
              <a:rPr lang="en-GB" sz="2000" kern="0">
                <a:solidFill>
                  <a:sysClr val="windowText" lastClr="000000"/>
                </a:solidFill>
                <a:latin typeface="Arial"/>
                <a:cs typeface="Arial"/>
              </a:rPr>
              <a:t> +2348035498084 </a:t>
            </a:r>
            <a:endParaRPr sz="2000" kern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05346" y="1449030"/>
            <a:ext cx="10873211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sz="2400" b="1" dirty="0">
                <a:solidFill>
                  <a:srgbClr val="00B050"/>
                </a:solidFill>
              </a:rPr>
              <a:t>CPE 604: Techniques in Machine Learning for Low-Resource Languages</a:t>
            </a:r>
            <a:endParaRPr sz="2400" b="1" spc="-25" dirty="0">
              <a:solidFill>
                <a:srgbClr val="00B050"/>
              </a:solidFill>
            </a:endParaRPr>
          </a:p>
        </p:txBody>
      </p:sp>
      <p:pic>
        <p:nvPicPr>
          <p:cNvPr id="1026" name="Picture 2" descr="TECH-U LOGO">
            <a:extLst>
              <a:ext uri="{FF2B5EF4-FFF2-40B4-BE49-F238E27FC236}">
                <a16:creationId xmlns:a16="http://schemas.microsoft.com/office/drawing/2014/main" id="{B35CE2D8-6482-918D-CF61-811513E3A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6627"/>
            <a:ext cx="2627658" cy="1205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894FDA2-E7B8-DED6-7304-AE94CB432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ECH-U LOGO">
            <a:extLst>
              <a:ext uri="{FF2B5EF4-FFF2-40B4-BE49-F238E27FC236}">
                <a16:creationId xmlns:a16="http://schemas.microsoft.com/office/drawing/2014/main" id="{9A631FCA-A007-AD00-30B7-FFC30B2E8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5899" y="1"/>
            <a:ext cx="1865658" cy="855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D7D8A6-D91F-7FCE-328B-8AAA5270D762}"/>
              </a:ext>
            </a:extLst>
          </p:cNvPr>
          <p:cNvSpPr txBox="1"/>
          <p:nvPr/>
        </p:nvSpPr>
        <p:spPr>
          <a:xfrm>
            <a:off x="1590260" y="228601"/>
            <a:ext cx="66393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Low-Resource Languages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FB77D3-5CD0-F427-2F75-36CE96A20A5C}"/>
              </a:ext>
            </a:extLst>
          </p:cNvPr>
          <p:cNvSpPr txBox="1"/>
          <p:nvPr/>
        </p:nvSpPr>
        <p:spPr>
          <a:xfrm>
            <a:off x="1590260" y="1382286"/>
            <a:ext cx="8839200" cy="501675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kern="0" dirty="0">
                <a:solidFill>
                  <a:srgbClr val="00B050"/>
                </a:solidFill>
                <a:latin typeface="Calibri"/>
              </a:rPr>
              <a:t>• </a:t>
            </a:r>
            <a:r>
              <a:rPr lang="en-US" sz="2000" b="1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Definition: </a:t>
            </a:r>
            <a:r>
              <a:rPr lang="en-US" sz="2000" kern="0" dirty="0">
                <a:solidFill>
                  <a:prstClr val="black"/>
                </a:solidFill>
                <a:latin typeface="Calibri"/>
              </a:rPr>
              <a:t>Languages with limited digital resources and datasets. These are languages that lack large corpora or annotated datasets, making AI development difficult.</a:t>
            </a:r>
          </a:p>
          <a:p>
            <a:endParaRPr lang="en-US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2000" b="1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impact</a:t>
            </a:r>
            <a:r>
              <a:rPr lang="en-US" sz="2000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kern="0" dirty="0">
                <a:solidFill>
                  <a:prstClr val="black"/>
                </a:solidFill>
                <a:latin typeface="Calibri"/>
              </a:rPr>
              <a:t>Many African and Indigenous languages fall into this category. Billions of speakers are digitally excluded from modern AI systems.</a:t>
            </a:r>
          </a:p>
          <a:p>
            <a:endParaRPr lang="en-US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2000" b="1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Importance: </a:t>
            </a:r>
            <a:r>
              <a:rPr lang="en-US" sz="2000" kern="0" dirty="0">
                <a:solidFill>
                  <a:prstClr val="black"/>
                </a:solidFill>
                <a:latin typeface="Calibri"/>
              </a:rPr>
              <a:t>Digital inclusion, education, and cultural preservation. Supporting these languages ensures cultural identity and equitable access to technology.</a:t>
            </a:r>
          </a:p>
          <a:p>
            <a:endParaRPr lang="en-US" sz="2000" kern="0" dirty="0">
              <a:solidFill>
                <a:prstClr val="black"/>
              </a:solidFill>
              <a:latin typeface="Calibri"/>
            </a:endParaRPr>
          </a:p>
          <a:p>
            <a:endParaRPr lang="en-US" sz="2000" kern="0" dirty="0">
              <a:solidFill>
                <a:prstClr val="black"/>
              </a:solidFill>
              <a:latin typeface="Calibri"/>
            </a:endParaRPr>
          </a:p>
          <a:p>
            <a:endParaRPr lang="en-US" sz="2000" kern="0" dirty="0">
              <a:solidFill>
                <a:prstClr val="black"/>
              </a:solidFill>
              <a:latin typeface="Calibri"/>
            </a:endParaRPr>
          </a:p>
          <a:p>
            <a:endParaRPr lang="en-US" sz="2000" kern="0" dirty="0">
              <a:solidFill>
                <a:prstClr val="black"/>
              </a:solidFill>
              <a:latin typeface="Calibri"/>
            </a:endParaRPr>
          </a:p>
          <a:p>
            <a:endParaRPr lang="en-US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2000" b="1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lang="en-US" sz="2000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 Prompt: </a:t>
            </a:r>
            <a:r>
              <a:rPr lang="en-US" sz="20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do you think some languages are digitally neglected while others dominate AI research?</a:t>
            </a:r>
          </a:p>
        </p:txBody>
      </p:sp>
      <p:pic>
        <p:nvPicPr>
          <p:cNvPr id="12" name="object 4">
            <a:extLst>
              <a:ext uri="{FF2B5EF4-FFF2-40B4-BE49-F238E27FC236}">
                <a16:creationId xmlns:a16="http://schemas.microsoft.com/office/drawing/2014/main" id="{553A5B69-080E-85D2-2638-EB7BB2D5159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09801" y="4444612"/>
            <a:ext cx="7024687" cy="103110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5023B54-C2DB-AB57-0D86-39319AD3D14A}"/>
              </a:ext>
            </a:extLst>
          </p:cNvPr>
          <p:cNvSpPr txBox="1"/>
          <p:nvPr/>
        </p:nvSpPr>
        <p:spPr>
          <a:xfrm>
            <a:off x="10210800" y="6498607"/>
            <a:ext cx="420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CA" b="1" kern="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2477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C220B33-E147-DED0-1D5B-E9FA56940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ECH-U LOGO">
            <a:extLst>
              <a:ext uri="{FF2B5EF4-FFF2-40B4-BE49-F238E27FC236}">
                <a16:creationId xmlns:a16="http://schemas.microsoft.com/office/drawing/2014/main" id="{E63C784D-70D1-06A6-F06C-647EF4E29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5899" y="1"/>
            <a:ext cx="1865658" cy="855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CCDC66-B3F9-E344-2DA0-56C89E6ABC4B}"/>
              </a:ext>
            </a:extLst>
          </p:cNvPr>
          <p:cNvSpPr txBox="1"/>
          <p:nvPr/>
        </p:nvSpPr>
        <p:spPr>
          <a:xfrm>
            <a:off x="1590260" y="228601"/>
            <a:ext cx="66393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 in Low-Resource NLP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F6304-B123-BA5B-B04A-FC391A06269B}"/>
              </a:ext>
            </a:extLst>
          </p:cNvPr>
          <p:cNvSpPr txBox="1"/>
          <p:nvPr/>
        </p:nvSpPr>
        <p:spPr>
          <a:xfrm>
            <a:off x="1590260" y="1217256"/>
            <a:ext cx="8839200" cy="5324535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20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Scarcity of labeled training data. AI models require data, but for many languages it is absent.</a:t>
            </a:r>
          </a:p>
          <a:p>
            <a:endParaRPr lang="en-US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20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Lack of standardized orthography. Inconsistent writing systems complicate data collection.</a:t>
            </a:r>
          </a:p>
          <a:p>
            <a:endParaRPr lang="en-US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  <a:r>
              <a:rPr lang="en-US" sz="20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annotation bottlenecks – high cost and limited experts slow dataset creation.</a:t>
            </a:r>
          </a:p>
          <a:p>
            <a:endParaRPr lang="en-US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  <a:r>
              <a:rPr lang="en-US" sz="20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Bias in existing multilingual models. Most are trained on English or Western languages, reducing </a:t>
            </a:r>
            <a:r>
              <a:rPr lang="en-CA" sz="20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fairness.</a:t>
            </a:r>
          </a:p>
          <a:p>
            <a:endParaRPr lang="en-CA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2000" b="1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lang="en-US" sz="2000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 Prompt: </a:t>
            </a:r>
            <a:r>
              <a:rPr lang="en-US" sz="20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 Prompt: What challenges might arise in building a chatbot for isiZulu with limited resources?</a:t>
            </a:r>
          </a:p>
        </p:txBody>
      </p:sp>
      <p:pic>
        <p:nvPicPr>
          <p:cNvPr id="2" name="object 4">
            <a:extLst>
              <a:ext uri="{FF2B5EF4-FFF2-40B4-BE49-F238E27FC236}">
                <a16:creationId xmlns:a16="http://schemas.microsoft.com/office/drawing/2014/main" id="{8C45321D-A8ED-C0CA-3623-BA865183911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81600" y="4419601"/>
            <a:ext cx="2362200" cy="10126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61DDB6-87DA-0BFA-8E16-3BC976A26011}"/>
              </a:ext>
            </a:extLst>
          </p:cNvPr>
          <p:cNvSpPr txBox="1"/>
          <p:nvPr/>
        </p:nvSpPr>
        <p:spPr>
          <a:xfrm>
            <a:off x="10210800" y="6498607"/>
            <a:ext cx="420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CA" b="1" kern="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0303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A60875E-F3AB-6898-E85A-4EA4A007A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ECH-U LOGO">
            <a:extLst>
              <a:ext uri="{FF2B5EF4-FFF2-40B4-BE49-F238E27FC236}">
                <a16:creationId xmlns:a16="http://schemas.microsoft.com/office/drawing/2014/main" id="{8013B649-0846-E3AD-547F-9418C8634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5899" y="1"/>
            <a:ext cx="1865658" cy="855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0A5DF8-14A5-6AD5-9F96-A74BB2F831CF}"/>
              </a:ext>
            </a:extLst>
          </p:cNvPr>
          <p:cNvSpPr txBox="1"/>
          <p:nvPr/>
        </p:nvSpPr>
        <p:spPr>
          <a:xfrm>
            <a:off x="1586947" y="152401"/>
            <a:ext cx="66393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Techniques for Addressing Data Scarcity</a:t>
            </a:r>
            <a:endParaRPr lang="en-CA" sz="2400" b="1" kern="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A01C30-10F9-29B5-B9E9-1E990B900579}"/>
              </a:ext>
            </a:extLst>
          </p:cNvPr>
          <p:cNvSpPr txBox="1"/>
          <p:nvPr/>
        </p:nvSpPr>
        <p:spPr>
          <a:xfrm>
            <a:off x="1586947" y="1066800"/>
            <a:ext cx="8839200" cy="538609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20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Transfer Learning: Use knowledge from high-resource languages like English for low-resource ones.</a:t>
            </a:r>
          </a:p>
          <a:p>
            <a:endParaRPr lang="en-US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  <a:r>
              <a:rPr lang="en-US" sz="20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Cross-lingual embeddings (XLM-R, </a:t>
            </a:r>
            <a:r>
              <a:rPr lang="en-US" sz="2000" kern="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mBERT</a:t>
            </a:r>
            <a:r>
              <a:rPr lang="en-US" sz="20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 Place words from many languages in one space to </a:t>
            </a:r>
            <a:r>
              <a:rPr lang="en-CA" sz="20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enable transfer.</a:t>
            </a:r>
          </a:p>
          <a:p>
            <a:endParaRPr lang="en-CA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  <a:r>
              <a:rPr lang="en-US" sz="20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Unsupervised/semi-supervised learning. Reduce dependency on labeled data.</a:t>
            </a:r>
          </a:p>
          <a:p>
            <a:endParaRPr lang="en-US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  <a:r>
              <a:rPr lang="en-US" sz="20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augmentation: back-translation and synthetic corpora expand datasets.</a:t>
            </a:r>
          </a:p>
          <a:p>
            <a:endParaRPr lang="en-US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2000" b="1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lang="en-US" sz="2000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 Prompt: </a:t>
            </a:r>
            <a:r>
              <a:rPr lang="en-US" sz="20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 Prompt: Which method seems most promising for scaling to 1,000+ low-resource languages? Why?</a:t>
            </a: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CA73EA2A-7FC4-1F81-8D52-686E5443F91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9400" y="4572000"/>
            <a:ext cx="5873750" cy="8362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A04048-49C4-FF96-3F4B-1C361120A1CA}"/>
              </a:ext>
            </a:extLst>
          </p:cNvPr>
          <p:cNvSpPr txBox="1"/>
          <p:nvPr/>
        </p:nvSpPr>
        <p:spPr>
          <a:xfrm>
            <a:off x="10210800" y="6498607"/>
            <a:ext cx="420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CA" b="1" kern="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90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7A72BD-2F59-9547-6FAC-69D0D318C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ECH-U LOGO">
            <a:extLst>
              <a:ext uri="{FF2B5EF4-FFF2-40B4-BE49-F238E27FC236}">
                <a16:creationId xmlns:a16="http://schemas.microsoft.com/office/drawing/2014/main" id="{E1AB669E-2364-9971-24A9-52DC7A83D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5899" y="1"/>
            <a:ext cx="1865658" cy="855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1C22E5-6E3A-6A2C-0AC5-CA0CB528D15D}"/>
              </a:ext>
            </a:extLst>
          </p:cNvPr>
          <p:cNvSpPr txBox="1"/>
          <p:nvPr/>
        </p:nvSpPr>
        <p:spPr>
          <a:xfrm>
            <a:off x="1586947" y="152401"/>
            <a:ext cx="66393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 Studies: isiZulu, isiXhosa, Sepedi</a:t>
            </a:r>
            <a:endParaRPr lang="en-CA" sz="2400" b="1" kern="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6AF8EA-E9ED-5C1B-A259-E656E0BA2D73}"/>
              </a:ext>
            </a:extLst>
          </p:cNvPr>
          <p:cNvSpPr txBox="1"/>
          <p:nvPr/>
        </p:nvSpPr>
        <p:spPr>
          <a:xfrm>
            <a:off x="1676400" y="1447801"/>
            <a:ext cx="8839200" cy="2923877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CA" sz="20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South African research initiatives (e.g., Masakhane community).</a:t>
            </a:r>
          </a:p>
          <a:p>
            <a:endParaRPr lang="en-CA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CA" sz="20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Ajagbe, S. et al. (2024). Large Language Models adapted for isiZulu, isiXhosa, Sepedi. </a:t>
            </a:r>
            <a:r>
              <a:rPr lang="en-CA" sz="20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https://doi.org/10.1109/ICEECT61758.2024.10739320</a:t>
            </a:r>
            <a:endParaRPr lang="en-CA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CA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CA" sz="20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Key challenges: morphology richness, lack of annotated corpora  </a:t>
            </a:r>
          </a:p>
          <a:p>
            <a:endParaRPr lang="en-US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2000" b="1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lang="en-US" sz="2000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 Prompt: </a:t>
            </a:r>
            <a:r>
              <a:rPr lang="en-US" sz="20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 Prompt: How does morphology complexity affect machine translation models?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E5A2B9-3632-6163-0790-A37A724EE51F}"/>
              </a:ext>
            </a:extLst>
          </p:cNvPr>
          <p:cNvSpPr txBox="1"/>
          <p:nvPr/>
        </p:nvSpPr>
        <p:spPr>
          <a:xfrm>
            <a:off x="10210800" y="6498607"/>
            <a:ext cx="420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CA" b="1" kern="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979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BA1F275-34C8-A3FD-1E9A-81808EC94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ECH-U LOGO">
            <a:extLst>
              <a:ext uri="{FF2B5EF4-FFF2-40B4-BE49-F238E27FC236}">
                <a16:creationId xmlns:a16="http://schemas.microsoft.com/office/drawing/2014/main" id="{397D2D94-F002-A156-62EF-572BE6D85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5899" y="1"/>
            <a:ext cx="1865658" cy="855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9EAB80-B32D-8A32-3FC1-5B550E07CE8B}"/>
              </a:ext>
            </a:extLst>
          </p:cNvPr>
          <p:cNvSpPr txBox="1"/>
          <p:nvPr/>
        </p:nvSpPr>
        <p:spPr>
          <a:xfrm>
            <a:off x="1586947" y="152401"/>
            <a:ext cx="66393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Ethical and Social Implications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1B65B4-03A1-D22C-19D8-139B56D269D1}"/>
              </a:ext>
            </a:extLst>
          </p:cNvPr>
          <p:cNvSpPr txBox="1"/>
          <p:nvPr/>
        </p:nvSpPr>
        <p:spPr>
          <a:xfrm>
            <a:off x="1586947" y="914401"/>
            <a:ext cx="8839200" cy="5324535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Risk of data exploitation without consent. Communities may lose control of their data.</a:t>
            </a:r>
          </a:p>
          <a:p>
            <a:endParaRPr lang="en-US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Cultural representation and fairness in NLP. Poor outputs may distort or misrepresent meaning.</a:t>
            </a:r>
          </a:p>
          <a:p>
            <a:endParaRPr lang="en-US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AI Security Concerns: Low-resource languages can be exploited for misinformation. Akinsuli, O.(2024). AI Security in Social Engineering.</a:t>
            </a:r>
          </a:p>
          <a:p>
            <a:r>
              <a:rPr lang="en-CA" sz="20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https://www.researchgate.net/publication/AI_Security_Social_Engineering</a:t>
            </a:r>
            <a:endParaRPr lang="en-CA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CA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CA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CA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CA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CA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2000" b="1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lang="en-US" sz="2000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 Prompt: </a:t>
            </a:r>
            <a:r>
              <a:rPr lang="en-US" sz="20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Should local communities always co-own AI projects involving their languages? Why or why not?</a:t>
            </a:r>
          </a:p>
        </p:txBody>
      </p:sp>
      <p:pic>
        <p:nvPicPr>
          <p:cNvPr id="2" name="object 7">
            <a:extLst>
              <a:ext uri="{FF2B5EF4-FFF2-40B4-BE49-F238E27FC236}">
                <a16:creationId xmlns:a16="http://schemas.microsoft.com/office/drawing/2014/main" id="{1C04F05F-8F72-45C4-1657-AEC65E25D6C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43401" y="3886200"/>
            <a:ext cx="2133599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5843738-C69C-DEB5-7DDB-50D0843D4BAE}"/>
              </a:ext>
            </a:extLst>
          </p:cNvPr>
          <p:cNvSpPr txBox="1"/>
          <p:nvPr/>
        </p:nvSpPr>
        <p:spPr>
          <a:xfrm>
            <a:off x="10210800" y="6498607"/>
            <a:ext cx="420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CA" b="1" kern="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135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8AC3A00-4A1A-3B15-A52E-CC48D315E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ECH-U LOGO">
            <a:extLst>
              <a:ext uri="{FF2B5EF4-FFF2-40B4-BE49-F238E27FC236}">
                <a16:creationId xmlns:a16="http://schemas.microsoft.com/office/drawing/2014/main" id="{863B456D-A3F9-E454-099F-290069778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5899" y="1"/>
            <a:ext cx="1865658" cy="855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EB5CBE-A37A-F90B-0BE1-39541A87F66C}"/>
              </a:ext>
            </a:extLst>
          </p:cNvPr>
          <p:cNvSpPr txBox="1"/>
          <p:nvPr/>
        </p:nvSpPr>
        <p:spPr>
          <a:xfrm>
            <a:off x="1586947" y="152401"/>
            <a:ext cx="66393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Applications and Future Directions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867423-F623-99F1-9166-6EA6C5C0C35E}"/>
              </a:ext>
            </a:extLst>
          </p:cNvPr>
          <p:cNvSpPr txBox="1"/>
          <p:nvPr/>
        </p:nvSpPr>
        <p:spPr>
          <a:xfrm>
            <a:off x="1586947" y="914401"/>
            <a:ext cx="8839200" cy="5324535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Applications: education, healthcare, governance. E.g., localized chatbots or healthcare advice in local </a:t>
            </a:r>
            <a:r>
              <a:rPr lang="en-CA" sz="20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tongues.</a:t>
            </a:r>
          </a:p>
          <a:p>
            <a:endParaRPr lang="en-CA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AI security risks: adversaries may exploit underserved languages for attacks not detectable in global </a:t>
            </a:r>
            <a:r>
              <a:rPr lang="en-CA" sz="20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models.</a:t>
            </a:r>
          </a:p>
          <a:p>
            <a:endParaRPr lang="en-CA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Participatory research (Masakhane). https://www.masakhane.io Involving locals ensures benefits flow </a:t>
            </a:r>
            <a:r>
              <a:rPr lang="en-CA" sz="20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communities.</a:t>
            </a:r>
          </a:p>
          <a:p>
            <a:endParaRPr lang="en-CA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CA" sz="20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Future: multilingual foundation models (e.g., GPT, XLM-R) reducing global NLP inequality.</a:t>
            </a:r>
          </a:p>
          <a:p>
            <a:endParaRPr lang="en-CA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CA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CA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2000" b="1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lang="en-US" sz="2000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 Prompt: </a:t>
            </a:r>
            <a:r>
              <a:rPr lang="en-US" sz="2000" kern="0" dirty="0">
                <a:solidFill>
                  <a:prstClr val="black"/>
                </a:solidFill>
                <a:latin typeface="Calibri"/>
              </a:rPr>
              <a:t>What is one real-world use case of NLP for low-resource languages that excites you most?</a:t>
            </a:r>
            <a:endParaRPr lang="en-US" sz="20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object 4">
            <a:extLst>
              <a:ext uri="{FF2B5EF4-FFF2-40B4-BE49-F238E27FC236}">
                <a16:creationId xmlns:a16="http://schemas.microsoft.com/office/drawing/2014/main" id="{C977679D-F554-24D6-B74D-996407A44989}"/>
              </a:ext>
            </a:extLst>
          </p:cNvPr>
          <p:cNvGrpSpPr/>
          <p:nvPr/>
        </p:nvGrpSpPr>
        <p:grpSpPr>
          <a:xfrm>
            <a:off x="2667001" y="4495800"/>
            <a:ext cx="6510655" cy="685800"/>
            <a:chOff x="520700" y="3810000"/>
            <a:chExt cx="8275955" cy="191770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CF73515-43EC-D303-9972-21CE95DF8E54}"/>
                </a:ext>
              </a:extLst>
            </p:cNvPr>
            <p:cNvSpPr/>
            <p:nvPr/>
          </p:nvSpPr>
          <p:spPr>
            <a:xfrm>
              <a:off x="533400" y="5029200"/>
              <a:ext cx="7772400" cy="685800"/>
            </a:xfrm>
            <a:custGeom>
              <a:avLst/>
              <a:gdLst/>
              <a:ahLst/>
              <a:cxnLst/>
              <a:rect l="l" t="t" r="r" b="b"/>
              <a:pathLst>
                <a:path w="7772400" h="685800">
                  <a:moveTo>
                    <a:pt x="342900" y="0"/>
                  </a:moveTo>
                  <a:lnTo>
                    <a:pt x="0" y="342900"/>
                  </a:lnTo>
                  <a:lnTo>
                    <a:pt x="342900" y="685800"/>
                  </a:lnTo>
                  <a:lnTo>
                    <a:pt x="342900" y="514350"/>
                  </a:lnTo>
                  <a:lnTo>
                    <a:pt x="7772400" y="514350"/>
                  </a:lnTo>
                  <a:lnTo>
                    <a:pt x="7772400" y="171450"/>
                  </a:lnTo>
                  <a:lnTo>
                    <a:pt x="342900" y="17145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E6C6B8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C8D9B06F-B381-EC9E-61DB-8D0A6891C12A}"/>
                </a:ext>
              </a:extLst>
            </p:cNvPr>
            <p:cNvSpPr/>
            <p:nvPr/>
          </p:nvSpPr>
          <p:spPr>
            <a:xfrm>
              <a:off x="533400" y="5029200"/>
              <a:ext cx="7772400" cy="685800"/>
            </a:xfrm>
            <a:custGeom>
              <a:avLst/>
              <a:gdLst/>
              <a:ahLst/>
              <a:cxnLst/>
              <a:rect l="l" t="t" r="r" b="b"/>
              <a:pathLst>
                <a:path w="7772400" h="685800">
                  <a:moveTo>
                    <a:pt x="0" y="342900"/>
                  </a:moveTo>
                  <a:lnTo>
                    <a:pt x="342900" y="0"/>
                  </a:lnTo>
                  <a:lnTo>
                    <a:pt x="342900" y="171450"/>
                  </a:lnTo>
                  <a:lnTo>
                    <a:pt x="7772400" y="171450"/>
                  </a:lnTo>
                  <a:lnTo>
                    <a:pt x="7772400" y="514350"/>
                  </a:lnTo>
                  <a:lnTo>
                    <a:pt x="342900" y="514350"/>
                  </a:lnTo>
                  <a:lnTo>
                    <a:pt x="342900" y="685800"/>
                  </a:lnTo>
                  <a:lnTo>
                    <a:pt x="0" y="342900"/>
                  </a:lnTo>
                  <a:close/>
                </a:path>
              </a:pathLst>
            </a:custGeom>
            <a:ln w="25400">
              <a:solidFill>
                <a:srgbClr val="89A4A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D9BC3438-4B36-8D7D-E635-4470FA7B935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0089" y="3810000"/>
              <a:ext cx="1176249" cy="175260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54DC07C-E65D-77F6-100C-4AF2A46D01CE}"/>
              </a:ext>
            </a:extLst>
          </p:cNvPr>
          <p:cNvSpPr txBox="1"/>
          <p:nvPr/>
        </p:nvSpPr>
        <p:spPr>
          <a:xfrm>
            <a:off x="10210800" y="6498607"/>
            <a:ext cx="420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CA" b="1" kern="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553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511AE74-79FF-0F8F-5461-83AB2EAC9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ECH-U LOGO">
            <a:extLst>
              <a:ext uri="{FF2B5EF4-FFF2-40B4-BE49-F238E27FC236}">
                <a16:creationId xmlns:a16="http://schemas.microsoft.com/office/drawing/2014/main" id="{111D66F6-936D-D220-99C3-A8037332C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5899" y="1"/>
            <a:ext cx="1865658" cy="855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A550C3-4BFD-6EE5-7BCB-7D61B93A6E13}"/>
              </a:ext>
            </a:extLst>
          </p:cNvPr>
          <p:cNvSpPr txBox="1"/>
          <p:nvPr/>
        </p:nvSpPr>
        <p:spPr>
          <a:xfrm>
            <a:off x="1586947" y="152401"/>
            <a:ext cx="66393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Recommended Readings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C2DB3F-055C-B4BE-0C02-F5E1B5C0E5DB}"/>
              </a:ext>
            </a:extLst>
          </p:cNvPr>
          <p:cNvSpPr txBox="1"/>
          <p:nvPr/>
        </p:nvSpPr>
        <p:spPr>
          <a:xfrm>
            <a:off x="1586947" y="914400"/>
            <a:ext cx="8839200" cy="5262979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600" kern="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Odeyemi</a:t>
            </a:r>
            <a:r>
              <a:rPr lang="en-US" sz="16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O. (2026). Universal Deviation Principle: A Multi-Operator Framework for Anomaly Detection and Classification with Sensitivity Guarantees. </a:t>
            </a:r>
            <a:r>
              <a:rPr lang="en-US" sz="1600" kern="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Zenodo</a:t>
            </a:r>
            <a:r>
              <a:rPr lang="en-US" sz="16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6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https://doi.org/10.5281/zenodo.19037688</a:t>
            </a:r>
            <a:r>
              <a:rPr lang="en-US" sz="16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sz="16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Ajagbe, S. et al. (2024). Large Language Models for Low-Resource Languages: isiZulu, isiXhosa and </a:t>
            </a:r>
            <a:r>
              <a:rPr lang="it-IT" sz="16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Sepedi. </a:t>
            </a:r>
            <a:r>
              <a:rPr lang="it-IT" sz="16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https://doi.org/10.1109/ICEECT61758.2024.10739320</a:t>
            </a:r>
            <a:endParaRPr lang="it-IT" sz="16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it-IT" sz="16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600" dirty="0" err="1"/>
              <a:t>Odeyemi</a:t>
            </a:r>
            <a:r>
              <a:rPr lang="en-US" sz="1600" dirty="0"/>
              <a:t>, O. (2026). BLIND-SPOT DECOMPOSITION AND THE GEOMETRY OF SYSTEM COLLAPSE∗. </a:t>
            </a:r>
            <a:r>
              <a:rPr lang="en-US" sz="1600" dirty="0" err="1"/>
              <a:t>Zenodo</a:t>
            </a:r>
            <a:r>
              <a:rPr lang="en-US" sz="1600" dirty="0"/>
              <a:t>. </a:t>
            </a:r>
            <a:r>
              <a:rPr lang="en-US" sz="1600" dirty="0">
                <a:hlinkClick r:id="rId5"/>
              </a:rPr>
              <a:t>https://doi.org/10.5281/zenodo.19038783</a:t>
            </a:r>
            <a:endParaRPr lang="en-CA" sz="16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Bojar, O. et al. (2018). Findings of the WMT Shared Task on News Translation.</a:t>
            </a:r>
          </a:p>
          <a:p>
            <a:r>
              <a:rPr lang="en-CA" sz="16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http://www.statmt.org/wmt18/</a:t>
            </a:r>
            <a:endParaRPr lang="en-CA" sz="16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CA" sz="16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600" kern="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Nekoto</a:t>
            </a:r>
            <a:r>
              <a:rPr lang="en-US" sz="16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W. et al. (2020). Participatory Research for African Languages (Masakhane).</a:t>
            </a:r>
          </a:p>
          <a:p>
            <a:r>
              <a:rPr lang="en-CA" sz="16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https://arxiv.org/abs/2003.11529</a:t>
            </a:r>
            <a:endParaRPr lang="en-CA" sz="16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CA" sz="16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CA" sz="16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CA" sz="1600" kern="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Artetxe</a:t>
            </a:r>
            <a:r>
              <a:rPr lang="en-CA" sz="16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M., Labaka, G., &amp; Agirre, E. (2019). Bilingual Dictionaries for Cross-Lingual NLP.</a:t>
            </a:r>
          </a:p>
          <a:p>
            <a:r>
              <a:rPr lang="en-CA" sz="16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https://arxiv.org/abs/1904.12995</a:t>
            </a:r>
            <a:endParaRPr lang="en-CA" sz="16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CA" sz="1600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600" dirty="0" err="1"/>
              <a:t>Odeyemi</a:t>
            </a:r>
            <a:r>
              <a:rPr lang="en-US" sz="1600" dirty="0"/>
              <a:t>, O. (2026). </a:t>
            </a:r>
            <a:r>
              <a:rPr lang="en-US" sz="16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MTTP: A Four-Layer Architecture for Deterministic Compliance Enforcement in Institutional </a:t>
            </a:r>
            <a:r>
              <a:rPr lang="en-US" sz="1600" kern="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</a:t>
            </a:r>
            <a:r>
              <a:rPr lang="en-US" sz="16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i="1" kern="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TechRxiv</a:t>
            </a:r>
            <a:r>
              <a:rPr lang="en-US" sz="1600" i="1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pp 1-13</a:t>
            </a:r>
            <a:r>
              <a:rPr lang="en-US" sz="16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https://www.techrxiv.org/doi/full/10.36227/techrxiv.177220113.33816607/v1</a:t>
            </a:r>
            <a:r>
              <a:rPr lang="en-US" sz="1600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45BDFA-121F-E5DD-CDCF-E15391A4705E}"/>
              </a:ext>
            </a:extLst>
          </p:cNvPr>
          <p:cNvSpPr txBox="1"/>
          <p:nvPr/>
        </p:nvSpPr>
        <p:spPr>
          <a:xfrm>
            <a:off x="10210800" y="6498607"/>
            <a:ext cx="420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en-CA" b="1" kern="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56736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845</Words>
  <Application>Microsoft Office PowerPoint</Application>
  <PresentationFormat>Widescreen</PresentationFormat>
  <Paragraphs>101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1_Office Theme</vt:lpstr>
      <vt:lpstr>CPE 604: Techniques in Machine Learning for Low-Resource Languages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704: Machine Learning for Low-Resource Languages</dc:title>
  <dc:creator>Ola Akinsuli</dc:creator>
  <cp:lastModifiedBy>SUNDAY ADEOLA AJAGBE</cp:lastModifiedBy>
  <cp:revision>7</cp:revision>
  <dcterms:created xsi:type="dcterms:W3CDTF">2025-08-22T05:00:55Z</dcterms:created>
  <dcterms:modified xsi:type="dcterms:W3CDTF">2026-04-28T18:36:53Z</dcterms:modified>
</cp:coreProperties>
</file>